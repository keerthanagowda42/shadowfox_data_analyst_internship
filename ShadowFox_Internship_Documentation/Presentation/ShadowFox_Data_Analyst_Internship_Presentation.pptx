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521440" y="0"/>
            <a:ext cx="670255" cy="6858000"/>
          </a:xfrm>
          <a:prstGeom prst="rect">
            <a:avLst/>
          </a:prstGeom>
          <a:solidFill>
            <a:srgbClr val="CC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F172A"/>
                </a:solidFill>
                <a:latin typeface="Calibri"/>
              </a:defRPr>
            </a:pPr>
            <a:r>
              <a:t>DATA ANALYST</a:t>
            </a:r>
          </a:p>
          <a:p>
            <a:pPr algn="ctr">
              <a:defRPr sz="3600">
                <a:solidFill>
                  <a:srgbClr val="00A8B5"/>
                </a:solidFill>
                <a:latin typeface="Calibri"/>
              </a:defRPr>
            </a:pPr>
            <a:r>
              <a:t>Task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0" y="4114800"/>
            <a:ext cx="822960" cy="73152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4754880"/>
            <a:ext cx="34747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A8B5"/>
                </a:solidFill>
                <a:latin typeface="Calibri"/>
              </a:defRPr>
            </a:pPr>
            <a:r>
              <a:t>By:</a:t>
            </a:r>
          </a:p>
          <a:p>
            <a:pPr>
              <a:defRPr sz="1800" b="1">
                <a:solidFill>
                  <a:srgbClr val="0F172A"/>
                </a:solidFill>
                <a:latin typeface="Calibri"/>
              </a:defRPr>
            </a:pPr>
            <a:r>
              <a:t>Keerthana V</a:t>
            </a:r>
          </a:p>
          <a:p>
            <a:pPr>
              <a:defRPr sz="1300">
                <a:solidFill>
                  <a:srgbClr val="334155"/>
                </a:solidFill>
                <a:latin typeface="Calibri"/>
              </a:defRPr>
            </a:pPr>
            <a:r>
              <a:t>HKBK College of Engineering</a:t>
            </a:r>
          </a:p>
          <a:p>
            <a:pPr>
              <a:defRPr sz="1400">
                <a:solidFill>
                  <a:srgbClr val="0F172A"/>
                </a:solidFill>
                <a:latin typeface="Calibri"/>
              </a:defRPr>
            </a:pPr>
            <a:r>
              <a:t>Data Analyst Intern</a:t>
            </a:r>
          </a:p>
          <a:p>
            <a:pPr>
              <a:defRPr sz="1400">
                <a:solidFill>
                  <a:srgbClr val="00A8B5"/>
                </a:solidFill>
                <a:latin typeface="Calibri"/>
              </a:defRPr>
            </a:pPr>
            <a:r>
              <a:t>August Batch 1 /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521440" y="0"/>
            <a:ext cx="670255" cy="6858000"/>
          </a:xfrm>
          <a:prstGeom prst="rect">
            <a:avLst/>
          </a:prstGeom>
          <a:solidFill>
            <a:srgbClr val="CC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731520" cy="54864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96012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400"/>
              </a:spcBef>
            </a:pPr>
            <a:r>
              <a:rPr sz="1800" b="1">
                <a:solidFill>
                  <a:srgbClr val="0F172A"/>
                </a:solidFill>
                <a:latin typeface="Calibri"/>
              </a:rPr>
              <a:t>1. ACKNOWLEDGEMENT</a:t>
            </a:r>
            <a:r>
              <a:rPr sz="1400">
                <a:solidFill>
                  <a:srgbClr val="334155"/>
                </a:solidFill>
                <a:latin typeface="Calibri"/>
              </a:rPr>
              <a:t>  —  Formal recognition of ShadowFox, coordinators, and declaration of independence.</a:t>
            </a:r>
          </a:p>
          <a:p>
            <a:pPr>
              <a:spcBef>
                <a:spcPts val="1400"/>
              </a:spcBef>
            </a:pPr>
            <a:r>
              <a:rPr sz="1800" b="1">
                <a:solidFill>
                  <a:srgbClr val="0F172A"/>
                </a:solidFill>
                <a:latin typeface="Calibri"/>
              </a:rPr>
              <a:t>2. BEGINNER LEVEL</a:t>
            </a:r>
            <a:r>
              <a:rPr sz="1400">
                <a:solidFill>
                  <a:srgbClr val="334155"/>
                </a:solidFill>
                <a:latin typeface="Calibri"/>
              </a:rPr>
              <a:t>  —  Small Business Sales Performance Analysis &amp; Automated Excel Dashboard.</a:t>
            </a:r>
          </a:p>
          <a:p>
            <a:pPr>
              <a:spcBef>
                <a:spcPts val="1400"/>
              </a:spcBef>
            </a:pPr>
            <a:r>
              <a:rPr sz="1800" b="1">
                <a:solidFill>
                  <a:srgbClr val="0F172A"/>
                </a:solidFill>
                <a:latin typeface="Calibri"/>
              </a:rPr>
              <a:t>3. INTERMEDIATE LEVEL</a:t>
            </a:r>
            <a:r>
              <a:rPr sz="1400">
                <a:solidFill>
                  <a:srgbClr val="334155"/>
                </a:solidFill>
                <a:latin typeface="Calibri"/>
              </a:rPr>
              <a:t>  —  Customer Behaviour, RFM Segmentation, Cohort Retention &amp; Relational SQL.</a:t>
            </a:r>
          </a:p>
          <a:p>
            <a:pPr>
              <a:spcBef>
                <a:spcPts val="1400"/>
              </a:spcBef>
            </a:pPr>
            <a:r>
              <a:rPr sz="1800" b="1">
                <a:solidFill>
                  <a:srgbClr val="0F172A"/>
                </a:solidFill>
                <a:latin typeface="Calibri"/>
              </a:rPr>
              <a:t>4. ADVANCED LEVEL</a:t>
            </a:r>
            <a:r>
              <a:rPr sz="1400">
                <a:solidFill>
                  <a:srgbClr val="334155"/>
                </a:solidFill>
                <a:latin typeface="Calibri"/>
              </a:rPr>
              <a:t>  —  Executive Business Intelligence Dashboard &amp; Logistics SLAs in Power BI.</a:t>
            </a:r>
          </a:p>
          <a:p>
            <a:pPr>
              <a:spcBef>
                <a:spcPts val="1400"/>
              </a:spcBef>
            </a:pPr>
            <a:r>
              <a:rPr sz="1800" b="1">
                <a:solidFill>
                  <a:srgbClr val="0F172A"/>
                </a:solidFill>
                <a:latin typeface="Calibri"/>
              </a:rPr>
              <a:t>5. CONCLUSION &amp; RECOMMENDATIONS</a:t>
            </a:r>
            <a:r>
              <a:rPr sz="1400">
                <a:solidFill>
                  <a:srgbClr val="334155"/>
                </a:solidFill>
                <a:latin typeface="Calibri"/>
              </a:rPr>
              <a:t>  —  Consolidated business insights, operational strategy, and learning outcomes.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521440" y="0"/>
            <a:ext cx="670255" cy="6858000"/>
          </a:xfrm>
          <a:prstGeom prst="rect">
            <a:avLst/>
          </a:prstGeom>
          <a:solidFill>
            <a:srgbClr val="CC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ACKNOWLEDGEMENT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731520" cy="54864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9601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I would like to express my gratitude to ShadowFox for giving me the opportunity to present the comprehensive data analytics tasks I have completed during this internship.</a:t>
            </a:r>
          </a:p>
          <a:p>
            <a:pPr>
              <a:defRPr sz="1700">
                <a:solidFill>
                  <a:srgbClr val="334155"/>
                </a:solidFill>
                <a:latin typeface="Calibri"/>
              </a:defRPr>
            </a:pPr>
            <a:r>
              <a:t>I would also like to extend my thanks to my coordinator, Mr. Aakash, for guiding me throughout this experience. I acknowledge that all three capstone projects, automated Python pipelines, relational SQL queries, spreadsheet models, and Power BI dashboards were completed independently by me. Additionally, I utilized official technical documentation for research and developer tooling for validating code quality and generating reference ideas.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521440" y="0"/>
            <a:ext cx="670255" cy="6858000"/>
          </a:xfrm>
          <a:prstGeom prst="rect">
            <a:avLst/>
          </a:prstGeom>
          <a:solidFill>
            <a:srgbClr val="CC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BEGINNER LEVEL: Overview &amp;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731520" cy="54864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0A8B5"/>
                </a:solidFill>
                <a:latin typeface="Calibri"/>
              </a:defRPr>
            </a:pPr>
            <a:r>
              <a:t>Task: Small Business Sales Performance Analysis &amp; Spreadsheet Dashboard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Business Problem: </a:t>
            </a:r>
            <a:r>
              <a:rPr sz="1500">
                <a:solidFill>
                  <a:srgbClr val="334155"/>
                </a:solidFill>
                <a:latin typeface="Calibri"/>
              </a:rPr>
              <a:t>A retail small business lacked visibility into category margins, seasonal demand spikes, and regional product profitability across 1,270 raw transaction records with real-world flaws.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Data Cleaning Pipeline: </a:t>
            </a:r>
            <a:r>
              <a:rPr sz="1500">
                <a:solidFill>
                  <a:srgbClr val="334155"/>
                </a:solidFill>
                <a:latin typeface="Calibri"/>
              </a:rPr>
              <a:t>Automated Python cleaning script (data_cleaning.py) removed 20 duplicate orders, imputed 37 missing payment methods, normalized casing, parsed mixed date formats, and verified 1,250 clean records.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Core Verified KPIs: </a:t>
            </a:r>
            <a:r>
              <a:rPr sz="1500">
                <a:solidFill>
                  <a:srgbClr val="334155"/>
                </a:solidFill>
                <a:latin typeface="Calibri"/>
              </a:rPr>
              <a:t>Gross Revenue: $180,936.50 | Net Profit: $87,709.30 | Margin: 48.48% | Orders: 1,250 | Units: 2,662 | Average Order Value (AOV): $144.75.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Spreadsheet Dashboard: </a:t>
            </a:r>
            <a:r>
              <a:rPr sz="1500">
                <a:solidFill>
                  <a:srgbClr val="334155"/>
                </a:solidFill>
                <a:latin typeface="Calibri"/>
              </a:rPr>
              <a:t>Constructed an automated 4-tab Excel workbook (Small_Business_Sales_Dashboard.xlsx) using dynamic formulas (=SUM, =SUMIFS, =AVERAGE), KPI summary cards, and embedded charts.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Technical Stack: </a:t>
            </a:r>
            <a:r>
              <a:rPr sz="1500">
                <a:solidFill>
                  <a:srgbClr val="334155"/>
                </a:solidFill>
                <a:latin typeface="Calibri"/>
              </a:rPr>
              <a:t>Python 3.12 (Pandas, NumPy, Matplotlib, Seaborn), Microsoft Excel (openpyxl), Git.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521440" y="0"/>
            <a:ext cx="670255" cy="6858000"/>
          </a:xfrm>
          <a:prstGeom prst="rect">
            <a:avLst/>
          </a:prstGeom>
          <a:solidFill>
            <a:srgbClr val="CC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Monthly Sales Trend &amp; Seasonality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731520" cy="54864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• Description: </a:t>
            </a:r>
            <a:r>
              <a:rPr sz="1400">
                <a:solidFill>
                  <a:srgbClr val="334155"/>
                </a:solidFill>
                <a:latin typeface="Calibri"/>
              </a:rPr>
              <a:t>Time-series line chart tracking monthly Gross Revenue and Net Profit across Fiscal Year 2024.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• Key Peak: </a:t>
            </a:r>
            <a:r>
              <a:rPr sz="1400">
                <a:solidFill>
                  <a:srgbClr val="334155"/>
                </a:solidFill>
                <a:latin typeface="Calibri"/>
              </a:rPr>
              <a:t>November surge reached $23,036.00 in sales ($11,363.50 profit) with an AOV of $213.30, driven by Black Friday and Q4 holiday promotions.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• Low Season: </a:t>
            </a:r>
            <a:r>
              <a:rPr sz="1400">
                <a:solidFill>
                  <a:srgbClr val="334155"/>
                </a:solidFill>
                <a:latin typeface="Calibri"/>
              </a:rPr>
              <a:t>June represented the lowest revenue month ($9,972.00; AOV $124.65), revealing a distinct summer purchasing lull.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• Strategic Action: </a:t>
            </a:r>
            <a:r>
              <a:rPr sz="1400">
                <a:solidFill>
                  <a:srgbClr val="334155"/>
                </a:solidFill>
                <a:latin typeface="Calibri"/>
              </a:rPr>
              <a:t>Launch targeted early-bird campaigns starting in September to extend the seasonal peak and smooth mid-year dips.</a:t>
            </a:r>
          </a:p>
        </p:txBody>
      </p:sp>
      <p:pic>
        <p:nvPicPr>
          <p:cNvPr id="7" name="Picture 6" descr="p1_monthly_sales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5212080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521440" y="0"/>
            <a:ext cx="670255" cy="6858000"/>
          </a:xfrm>
          <a:prstGeom prst="rect">
            <a:avLst/>
          </a:prstGeom>
          <a:solidFill>
            <a:srgbClr val="CC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Category Sales &amp; Profitability Breakdown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731520" cy="54864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• Description: </a:t>
            </a:r>
            <a:r>
              <a:rPr sz="1400">
                <a:solidFill>
                  <a:srgbClr val="334155"/>
                </a:solidFill>
                <a:latin typeface="Calibri"/>
              </a:rPr>
              <a:t>Dual-axis bar and line visualization comparing total gross revenue against net profit margin across 4 retail verticals.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• Volume Dominance: </a:t>
            </a:r>
            <a:r>
              <a:rPr sz="1400">
                <a:solidFill>
                  <a:srgbClr val="334155"/>
                </a:solidFill>
                <a:latin typeface="Calibri"/>
              </a:rPr>
              <a:t>Furniture ($74,359.00) and Electronics ($68,702.50) generate 79.07% of consolidated gross company revenue.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• Margin Leaders: </a:t>
            </a:r>
            <a:r>
              <a:rPr sz="1400">
                <a:solidFill>
                  <a:srgbClr val="334155"/>
                </a:solidFill>
                <a:latin typeface="Calibri"/>
              </a:rPr>
              <a:t>Office Supplies yield the highest margin percentage (49.95%), led by Gel Ink Pens at an extraordinary 67.72% net profit margin.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• Merchandising Strategy: </a:t>
            </a:r>
            <a:r>
              <a:rPr sz="1400">
                <a:solidFill>
                  <a:srgbClr val="334155"/>
                </a:solidFill>
                <a:latin typeface="Calibri"/>
              </a:rPr>
              <a:t>Bundle high-volume furniture with high-margin desk accessories to lift consolidated order profitability.</a:t>
            </a:r>
          </a:p>
        </p:txBody>
      </p:sp>
      <p:pic>
        <p:nvPicPr>
          <p:cNvPr id="7" name="Picture 6" descr="p1_category_sales_pro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5212080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521440" y="0"/>
            <a:ext cx="670255" cy="6858000"/>
          </a:xfrm>
          <a:prstGeom prst="rect">
            <a:avLst/>
          </a:prstGeom>
          <a:solidFill>
            <a:srgbClr val="CC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Regional Performance &amp; Spreadsheet Automation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731520" cy="54864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• Description: </a:t>
            </a:r>
            <a:r>
              <a:rPr sz="1400">
                <a:solidFill>
                  <a:srgbClr val="334155"/>
                </a:solidFill>
                <a:latin typeface="Calibri"/>
              </a:rPr>
              <a:t>Geographic performance analysis across 5 sales territories alongside dynamic Excel dashboard architecture.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• Regional Lead: </a:t>
            </a:r>
            <a:r>
              <a:rPr sz="1400">
                <a:solidFill>
                  <a:srgbClr val="334155"/>
                </a:solidFill>
                <a:latin typeface="Calibri"/>
              </a:rPr>
              <a:t>West Region leads overall performance with $42,306.00 in revenue and $20,443.00 in profit, closely followed by Central ($38,685.00).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• Excel Architecture: </a:t>
            </a:r>
            <a:r>
              <a:rPr sz="1400">
                <a:solidFill>
                  <a:srgbClr val="334155"/>
                </a:solidFill>
                <a:latin typeface="Calibri"/>
              </a:rPr>
              <a:t>4-tab workbook (Raw Data, Cleaned Data, Formula Analysis, Dashboard) using dynamic formulas (=SUMIFS, =AVERAGE).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• Non-Technical Usability: </a:t>
            </a:r>
            <a:r>
              <a:rPr sz="1400">
                <a:solidFill>
                  <a:srgbClr val="334155"/>
                </a:solidFill>
                <a:latin typeface="Calibri"/>
              </a:rPr>
              <a:t>Empowers executive decision-makers with interactive KPI tiles and real-time summary calculations.</a:t>
            </a:r>
          </a:p>
        </p:txBody>
      </p:sp>
      <p:pic>
        <p:nvPicPr>
          <p:cNvPr id="7" name="Picture 6" descr="p1_regional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5212080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521440" y="0"/>
            <a:ext cx="670255" cy="6858000"/>
          </a:xfrm>
          <a:prstGeom prst="rect">
            <a:avLst/>
          </a:prstGeom>
          <a:solidFill>
            <a:srgbClr val="CC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INTERMEDIATE LEVEL: Customer Analytics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731520" cy="54864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0A8B5"/>
                </a:solidFill>
                <a:latin typeface="Calibri"/>
              </a:defRPr>
            </a:pPr>
            <a:r>
              <a:t>Task: Customer Behaviour, Revenue, and Retention Analytics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Business Problem: </a:t>
            </a:r>
            <a:r>
              <a:rPr sz="1500">
                <a:solidFill>
                  <a:srgbClr val="334155"/>
                </a:solidFill>
                <a:latin typeface="Calibri"/>
              </a:rPr>
              <a:t>A direct-to-consumer e-commerce brand needed to quantify customer persistence, repeat purchase velocity, and RFM spend concentration across 24 months of transactional data.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Dataset &amp; Cleaning: </a:t>
            </a:r>
            <a:r>
              <a:rPr sz="1500">
                <a:solidFill>
                  <a:srgbClr val="334155"/>
                </a:solidFill>
                <a:latin typeface="Calibri"/>
              </a:rPr>
              <a:t>Evaluated 2,336 raw records across 850 customer accounts spanning 2023–2024. Cleaned 30 duplicates, standardized schemas, and engineered Cohort_Month and Cohort_Index tags.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Behavioral Segmentation: </a:t>
            </a:r>
            <a:r>
              <a:rPr sz="1500">
                <a:solidFill>
                  <a:srgbClr val="334155"/>
                </a:solidFill>
                <a:latin typeface="Calibri"/>
              </a:rPr>
              <a:t>Implemented an 8-cluster RFM framework (Champions, Loyal Customers, At Risk, etc.) binned via Recency, Frequency, and Monetary quintile scoring.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Relational Database &amp; SQL: </a:t>
            </a:r>
            <a:r>
              <a:rPr sz="1500">
                <a:solidFill>
                  <a:srgbClr val="334155"/>
                </a:solidFill>
                <a:latin typeface="Calibri"/>
              </a:rPr>
              <a:t>Established an SQLite database (customer_analytics.db) and authored 10 production SQL queries utilizing Common Table Expressions (CTEs) and Window Functions (DENSE_RANK, LAG, NTILE).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Key Outcome: </a:t>
            </a:r>
            <a:r>
              <a:rPr sz="1500">
                <a:solidFill>
                  <a:srgbClr val="334155"/>
                </a:solidFill>
                <a:latin typeface="Calibri"/>
              </a:rPr>
              <a:t>Uncovered that repeat buyers generate 80.88% of total revenue and formulated an automated Day 3-10-21 retention sequence.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521440" y="0"/>
            <a:ext cx="670255" cy="6858000"/>
          </a:xfrm>
          <a:prstGeom prst="rect">
            <a:avLst/>
          </a:prstGeom>
          <a:solidFill>
            <a:srgbClr val="CC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Customer Spend Dynamics: Repeat vs One-Time Buyers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731520" cy="54864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• Description: </a:t>
            </a:r>
            <a:r>
              <a:rPr sz="1400">
                <a:solidFill>
                  <a:srgbClr val="334155"/>
                </a:solidFill>
                <a:latin typeface="Calibri"/>
              </a:rPr>
              <a:t>Spend share distribution comparing repeat purchasers against single-order buyers across 850 accounts.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• Massive Asymmetry: </a:t>
            </a:r>
            <a:r>
              <a:rPr sz="1400">
                <a:solidFill>
                  <a:srgbClr val="334155"/>
                </a:solidFill>
                <a:latin typeface="Calibri"/>
              </a:rPr>
              <a:t>Repeat buyers make up only 46.94% of the customer base (399 accounts) but drive 80.88% of total revenue ($264,508.51).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• Lifetime Value Gap: </a:t>
            </a:r>
            <a:r>
              <a:rPr sz="1400">
                <a:solidFill>
                  <a:srgbClr val="334155"/>
                </a:solidFill>
                <a:latin typeface="Calibri"/>
              </a:rPr>
              <a:t>Average LTV for repeat buyers is $662.93, representing a 4.8x multiplier over one-time buyers ($138.07).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• Strategic Focus: </a:t>
            </a:r>
            <a:r>
              <a:rPr sz="1400">
                <a:solidFill>
                  <a:srgbClr val="334155"/>
                </a:solidFill>
                <a:latin typeface="Calibri"/>
              </a:rPr>
              <a:t>Allocating marketing budget toward post-purchase reactivation yields dramatically higher ROI than top-of-funnel acquisition alone.</a:t>
            </a:r>
          </a:p>
        </p:txBody>
      </p:sp>
      <p:pic>
        <p:nvPicPr>
          <p:cNvPr id="7" name="Picture 6" descr="p2_repeat_vs_onetime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5212080" cy="21717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521440" y="0"/>
            <a:ext cx="670255" cy="6858000"/>
          </a:xfrm>
          <a:prstGeom prst="rect">
            <a:avLst/>
          </a:prstGeom>
          <a:solidFill>
            <a:srgbClr val="CC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RFM Customer Segmentation &amp; Spend Concentration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731520" cy="54864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• Description: </a:t>
            </a:r>
            <a:r>
              <a:rPr sz="1400">
                <a:solidFill>
                  <a:srgbClr val="334155"/>
                </a:solidFill>
                <a:latin typeface="Calibri"/>
              </a:rPr>
              <a:t>Customer segmentation framework categorizing 850 accounts across Recency, Frequency, and Monetary quintiles.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• Champions Dominate: </a:t>
            </a:r>
            <a:r>
              <a:rPr sz="1400">
                <a:solidFill>
                  <a:srgbClr val="334155"/>
                </a:solidFill>
                <a:latin typeface="Calibri"/>
              </a:rPr>
              <a:t>200 Champions alone account for $162,963.95 (49.83% of total brand sales) with an average of 5.7 purchases per account.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• Pareto Rule Confirmed: </a:t>
            </a:r>
            <a:r>
              <a:rPr sz="1400">
                <a:solidFill>
                  <a:srgbClr val="334155"/>
                </a:solidFill>
                <a:latin typeface="Calibri"/>
              </a:rPr>
              <a:t>The top 20% of customers deliver 56.04% of cumulative revenue; top two segments account for 69.51%.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• Targeted Action: </a:t>
            </a:r>
            <a:r>
              <a:rPr sz="1400">
                <a:solidFill>
                  <a:srgbClr val="334155"/>
                </a:solidFill>
                <a:latin typeface="Calibri"/>
              </a:rPr>
              <a:t>Deploy automated VIP concierge perks for Champions while launching win-back incentives for the $19.5k 'At Risk' segment.</a:t>
            </a:r>
          </a:p>
        </p:txBody>
      </p:sp>
      <p:pic>
        <p:nvPicPr>
          <p:cNvPr id="7" name="Picture 6" descr="p2_rfm_segment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5212080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521440" y="0"/>
            <a:ext cx="670255" cy="6858000"/>
          </a:xfrm>
          <a:prstGeom prst="rect">
            <a:avLst/>
          </a:prstGeom>
          <a:solidFill>
            <a:srgbClr val="CC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24-Month Cohort Retention Heatmap &amp; Churn Dynamics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731520" cy="54864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• Description: </a:t>
            </a:r>
            <a:r>
              <a:rPr sz="1400">
                <a:solidFill>
                  <a:srgbClr val="334155"/>
                </a:solidFill>
                <a:latin typeface="Calibri"/>
              </a:rPr>
              <a:t>Seaborn retention heatmap tracking customer persistence percentage across 24 monthly acquisition cohorts.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• Steep Drop-Off: </a:t>
            </a:r>
            <a:r>
              <a:rPr sz="1400">
                <a:solidFill>
                  <a:srgbClr val="334155"/>
                </a:solidFill>
                <a:latin typeface="Calibri"/>
              </a:rPr>
              <a:t>The primary attrition bottleneck occurs between Month 0 and Month 1, where retention drops from 100% to ~20%.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• Stabilized Loyalty Core: </a:t>
            </a:r>
            <a:r>
              <a:rPr sz="1400">
                <a:solidFill>
                  <a:srgbClr val="334155"/>
                </a:solidFill>
                <a:latin typeface="Calibri"/>
              </a:rPr>
              <a:t>From Month 3 through Month 12, retention stabilizes at a resilient 12% to 16% long-term baseline.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• Intervention Strategy: </a:t>
            </a:r>
            <a:r>
              <a:rPr sz="1400">
                <a:solidFill>
                  <a:srgbClr val="334155"/>
                </a:solidFill>
                <a:latin typeface="Calibri"/>
              </a:rPr>
              <a:t>Implement an automated Day 3-10-21 email sequence to guide first-time buyers toward their critical second purchase.</a:t>
            </a:r>
          </a:p>
        </p:txBody>
      </p:sp>
      <p:pic>
        <p:nvPicPr>
          <p:cNvPr id="7" name="Picture 6" descr="p2_cohort_reten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5212080" cy="28065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521440" y="0"/>
            <a:ext cx="670255" cy="6858000"/>
          </a:xfrm>
          <a:prstGeom prst="rect">
            <a:avLst/>
          </a:prstGeom>
          <a:solidFill>
            <a:srgbClr val="CC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Relational Database &amp; Advanced SQL Analytics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731520" cy="54864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0A8B5"/>
                </a:solidFill>
                <a:latin typeface="Calibri"/>
              </a:defRPr>
            </a:pPr>
            <a:r>
              <a:t>Production SQL Query Engine (SQLite &amp; ANSI SQL-99)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• Database Architecture: </a:t>
            </a:r>
            <a:r>
              <a:rPr sz="1400">
                <a:solidFill>
                  <a:srgbClr val="334155"/>
                </a:solidFill>
                <a:latin typeface="Calibri"/>
              </a:rPr>
              <a:t>Normalized 2,306 transactions into relational customers, products, and transactions tables with foreign key constraints in customer_analytics.db.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• Ranking Functions: </a:t>
            </a:r>
            <a:r>
              <a:rPr sz="1400">
                <a:solidFill>
                  <a:srgbClr val="334155"/>
                </a:solidFill>
                <a:latin typeface="Calibri"/>
              </a:rPr>
              <a:t>Query 5 implemented DENSE_RANK() OVER (PARTITION BY Customer_Region ORDER BY Total_Spend DESC) to identify top 3 VIP accounts in each geographic territory.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• Time-Series Analytics: </a:t>
            </a:r>
            <a:r>
              <a:rPr sz="1400">
                <a:solidFill>
                  <a:srgbClr val="334155"/>
                </a:solidFill>
                <a:latin typeface="Calibri"/>
              </a:rPr>
              <a:t>Query 6 utilized LAG(Monthly_Revenue, 1) OVER (ORDER BY Year_Month) to compute exact Month-over-Month (MoM) revenue growth percentages.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• Cumulative Aggregations: </a:t>
            </a:r>
            <a:r>
              <a:rPr sz="1400">
                <a:solidFill>
                  <a:srgbClr val="334155"/>
                </a:solidFill>
                <a:latin typeface="Calibri"/>
              </a:rPr>
              <a:t>Query 7 computed running total revenue across 24 months using SUM(Monthly_Revenue) OVER (ORDER BY Year_Month ROWS UNBOUNDED PRECEDING).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• Spend Quintile Binning: </a:t>
            </a:r>
            <a:r>
              <a:rPr sz="1400">
                <a:solidFill>
                  <a:srgbClr val="334155"/>
                </a:solidFill>
                <a:latin typeface="Calibri"/>
              </a:rPr>
              <a:t>Query 9 applied NTILE(5) OVER (ORDER BY Total_Spend DESC) to group the customer base into mathematical spend quintiles.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• Verification: </a:t>
            </a:r>
            <a:r>
              <a:rPr sz="1400">
                <a:solidFill>
                  <a:srgbClr val="334155"/>
                </a:solidFill>
                <a:latin typeface="Calibri"/>
              </a:rPr>
              <a:t>All 10 queries executed via Python automation script (execute_sql_queries.py) with zero errors, exporting verified CSV reports.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521440" y="0"/>
            <a:ext cx="670255" cy="6858000"/>
          </a:xfrm>
          <a:prstGeom prst="rect">
            <a:avLst/>
          </a:prstGeom>
          <a:solidFill>
            <a:srgbClr val="CC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ADVANCED LEVEL: Executive Power BI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731520" cy="54864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0A8B5"/>
                </a:solidFill>
                <a:latin typeface="Calibri"/>
              </a:defRPr>
            </a:pPr>
            <a:r>
              <a:t>Task: Enterprise BI Architecture, Star Schema &amp; Logistics SLAs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Business Objective: </a:t>
            </a:r>
            <a:r>
              <a:rPr sz="1500">
                <a:solidFill>
                  <a:srgbClr val="334155"/>
                </a:solidFill>
                <a:latin typeface="Calibri"/>
              </a:rPr>
              <a:t>Architect an enterprise reporting system for a global distributor (FY 2022–2024) to monitor revenue velocity, budget targets, and supply chain delivery compliance.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Dimensional Star Schema: </a:t>
            </a:r>
            <a:r>
              <a:rPr sz="1500">
                <a:solidFill>
                  <a:srgbClr val="334155"/>
                </a:solidFill>
                <a:latin typeface="Calibri"/>
              </a:rPr>
              <a:t>Engineered 6 relational tables: Fact_Orders (4,200 rows), Fact_Targets (1,080 rows), Dim_Date (1,096 days), Dim_Products (1,241 SKUs), Dim_Customers (600 accounts), Dim_Geography (10 hubs).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DAX Measures Library: </a:t>
            </a:r>
            <a:r>
              <a:rPr sz="1500">
                <a:solidFill>
                  <a:srgbClr val="334155"/>
                </a:solidFill>
                <a:latin typeface="Calibri"/>
              </a:rPr>
              <a:t>Authored 28 production DAX measures covering Core Financials, Time Intelligence (TOTALYTD, SAMEPERIODLASTYEAR), Target Variances, and Logistics SLAs.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Verified 3-Year Metrics: </a:t>
            </a:r>
            <a:r>
              <a:rPr sz="1500">
                <a:solidFill>
                  <a:srgbClr val="334155"/>
                </a:solidFill>
                <a:latin typeface="Calibri"/>
              </a:rPr>
              <a:t>Total Sales: $2,929,341.17 | Net Profit: $1,124,915.67 | Operating Margin: 38.40% | Annual YoY Growth: +96.4% in 2023, +24.5% in 2024.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Supply Chain Discovery: </a:t>
            </a:r>
            <a:r>
              <a:rPr sz="1500">
                <a:solidFill>
                  <a:srgbClr val="334155"/>
                </a:solidFill>
                <a:latin typeface="Calibri"/>
              </a:rPr>
              <a:t>Identified a critical logistics bottleneck where overall SLA compliance is 68.83% against an 85.00% target, driven by Standard Class ground shipping delays.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521440" y="0"/>
            <a:ext cx="670255" cy="6858000"/>
          </a:xfrm>
          <a:prstGeom prst="rect">
            <a:avLst/>
          </a:prstGeom>
          <a:solidFill>
            <a:srgbClr val="CC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Executive Financial Scorecard &amp; Growth Velocity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731520" cy="54864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• Description: </a:t>
            </a:r>
            <a:r>
              <a:rPr sz="1400">
                <a:solidFill>
                  <a:srgbClr val="334155"/>
                </a:solidFill>
                <a:latin typeface="Calibri"/>
              </a:rPr>
              <a:t>High-resolution Power BI dashboard mockups displaying multi-year sales velocity, operating profit, and product vertical distribution.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• Consolidated Revenue: </a:t>
            </a:r>
            <a:r>
              <a:rPr sz="1400">
                <a:solidFill>
                  <a:srgbClr val="334155"/>
                </a:solidFill>
                <a:latin typeface="Calibri"/>
              </a:rPr>
              <a:t>3-Year Gross Sales reached $2,929,341.17 with $1,124,915.67 in Net Operating Profit at an exceptional 38.40% margin.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• YoY Velocity: </a:t>
            </a:r>
            <a:r>
              <a:rPr sz="1400">
                <a:solidFill>
                  <a:srgbClr val="334155"/>
                </a:solidFill>
                <a:latin typeface="Calibri"/>
              </a:rPr>
              <a:t>Annual revenue expanded from $541.6k (FY22) to $1,063.8k in FY23 (+96.40%) and reached $1,323.9k in FY24 (+24.46%).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• UI Design System: </a:t>
            </a:r>
            <a:r>
              <a:rPr sz="1400">
                <a:solidFill>
                  <a:srgbClr val="334155"/>
                </a:solidFill>
                <a:latin typeface="Calibri"/>
              </a:rPr>
              <a:t>Engineered modern dark-mode palette (#0B192C, #1E3E62, #FF6500) with visual hierarchy, KPI summary cards, and drill-down paths.</a:t>
            </a:r>
          </a:p>
        </p:txBody>
      </p:sp>
      <p:pic>
        <p:nvPicPr>
          <p:cNvPr id="7" name="Picture 6" descr="p3_powerbi_executiv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5212080" cy="293179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521440" y="0"/>
            <a:ext cx="670255" cy="6858000"/>
          </a:xfrm>
          <a:prstGeom prst="rect">
            <a:avLst/>
          </a:prstGeom>
          <a:solidFill>
            <a:srgbClr val="CC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Supply Chain &amp; On-Time Delivery SLA Compliance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731520" cy="54864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• Description: </a:t>
            </a:r>
            <a:r>
              <a:rPr sz="1400">
                <a:solidFill>
                  <a:srgbClr val="334155"/>
                </a:solidFill>
                <a:latin typeface="Calibri"/>
              </a:rPr>
              <a:t>Evaluation of fulfillment transit duration and On-Time Delivery SLA compliance across fulfillment tiers.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• Severe SLA Shortfall: </a:t>
            </a:r>
            <a:r>
              <a:rPr sz="1400">
                <a:solidFill>
                  <a:srgbClr val="334155"/>
                </a:solidFill>
                <a:latin typeface="Calibri"/>
              </a:rPr>
              <a:t>Overall On-Time Delivery SLA sits at 68.83%, failing to meet the executive target benchmark of 85.00%.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• Fulfillment Disparity: </a:t>
            </a:r>
            <a:r>
              <a:rPr sz="1400">
                <a:solidFill>
                  <a:srgbClr val="334155"/>
                </a:solidFill>
                <a:latin typeface="Calibri"/>
              </a:rPr>
              <a:t>Same Day (92.42%) and First Class (81.75%) shipping perform strongly, but Standard Class ground shipping achieves only 59.20% on-time delivery.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• Executive Action: </a:t>
            </a:r>
            <a:r>
              <a:rPr sz="1400">
                <a:solidFill>
                  <a:srgbClr val="334155"/>
                </a:solidFill>
                <a:latin typeface="Calibri"/>
              </a:rPr>
              <a:t>Renegotiate 3PL regional carrier contracts and introduce ground hub transit tracking to remediate the 40.8% failure rate.</a:t>
            </a:r>
          </a:p>
        </p:txBody>
      </p:sp>
      <p:pic>
        <p:nvPicPr>
          <p:cNvPr id="7" name="Picture 6" descr="p3_logistics_sla_compl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5212080" cy="223374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521440" y="0"/>
            <a:ext cx="670255" cy="6858000"/>
          </a:xfrm>
          <a:prstGeom prst="rect">
            <a:avLst/>
          </a:prstGeom>
          <a:solidFill>
            <a:srgbClr val="CC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Conclusion &amp; Strategic Business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731520" cy="54864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0A8B5"/>
                </a:solidFill>
                <a:latin typeface="Calibri"/>
              </a:defRPr>
            </a:pPr>
            <a:r>
              <a:t>Data-Backed Action Plan Across Beginner, Intermediate &amp; Advanced Levels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1. Merchandising Bundles (Sales): </a:t>
            </a:r>
            <a:r>
              <a:rPr sz="1500">
                <a:solidFill>
                  <a:srgbClr val="334155"/>
                </a:solidFill>
                <a:latin typeface="Calibri"/>
              </a:rPr>
              <a:t>Capitalize on Furniture/Electronics volume ($143k) by bundling them with high-margin Office Supplies (Gel Ink Pens at 67.7% margin) to elevate overall gross margin.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2. Automated Lifecycle Marketing (Retention): </a:t>
            </a:r>
            <a:r>
              <a:rPr sz="1500">
                <a:solidFill>
                  <a:srgbClr val="334155"/>
                </a:solidFill>
                <a:latin typeface="Calibri"/>
              </a:rPr>
              <a:t>Deploy an automated Day 3-10-21 post-purchase email onboarding flow to bridge the steep 80% Month 1 drop-off and nurture repeat buyers (who drive 80.88% of revenue).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3. Carrier Contract Restructuring (Logistics): </a:t>
            </a:r>
            <a:r>
              <a:rPr sz="1500">
                <a:solidFill>
                  <a:srgbClr val="334155"/>
                </a:solidFill>
                <a:latin typeface="Calibri"/>
              </a:rPr>
              <a:t>Restructure Standard Class 3PL logistics agreements to eliminate ground fulfillment bottlenecks and elevate On-Time Delivery SLA compliance from 68.83% back above 85.00%.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4. Technical Competency &amp; Tool Mastery: </a:t>
            </a:r>
            <a:r>
              <a:rPr sz="1500">
                <a:solidFill>
                  <a:srgbClr val="334155"/>
                </a:solidFill>
                <a:latin typeface="Calibri"/>
              </a:rPr>
              <a:t>Successfully demonstrated end-to-end data analyst proficiency across Python, SQLite, Relational SQL, Microsoft Excel, and Microsoft Power BI.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521440" y="0"/>
            <a:ext cx="670255" cy="6858000"/>
          </a:xfrm>
          <a:prstGeom prst="rect">
            <a:avLst/>
          </a:prstGeom>
          <a:solidFill>
            <a:srgbClr val="CC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0" y="1645920"/>
            <a:ext cx="8869680" cy="3566160"/>
          </a:xfrm>
          <a:prstGeom prst="rect">
            <a:avLst/>
          </a:prstGeom>
          <a:solidFill>
            <a:srgbClr val="EE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377440"/>
            <a:ext cx="8503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F172A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503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A8B5"/>
                </a:solidFill>
                <a:latin typeface="Calibri"/>
              </a:defRPr>
            </a:pPr>
            <a:r>
              <a:t>ShadowFox Data Analyst Internship Capstone Portfolio</a:t>
            </a:r>
          </a:p>
          <a:p>
            <a:pPr algn="ctr">
              <a:defRPr sz="1300">
                <a:solidFill>
                  <a:srgbClr val="64748B"/>
                </a:solidFill>
                <a:latin typeface="Calibri"/>
              </a:defRPr>
            </a:pPr>
            <a:r>
              <a:t>GitHub: https://github.com/Keerthanagowda42/ShadowFox_Data_Analyst_Internship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